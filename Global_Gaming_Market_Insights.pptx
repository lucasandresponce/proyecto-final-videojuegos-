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65" r:id="rId5"/>
    <p:sldId id="259" r:id="rId6"/>
    <p:sldId id="260" r:id="rId7"/>
    <p:sldId id="261" r:id="rId8"/>
    <p:sldId id="262" r:id="rId9"/>
    <p:sldId id="263" r:id="rId10"/>
    <p:sldId id="264" r:id="rId11"/>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62151" autoAdjust="0"/>
  </p:normalViewPr>
  <p:slideViewPr>
    <p:cSldViewPr>
      <p:cViewPr>
        <p:scale>
          <a:sx n="64" d="100"/>
          <a:sy n="64" d="100"/>
        </p:scale>
        <p:origin x="1542" y="-4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78328B-397A-47F0-B490-01D19AC7CAAD}" type="datetimeFigureOut">
              <a:rPr lang="en-US" smtClean="0"/>
              <a:t>9/15/2026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31104C-B0C8-41BA-8A90-F1CDCE0B74F7}" type="slidenum">
              <a:rPr lang="en-US" smtClean="0"/>
              <a:t>‹Nº›</a:t>
            </a:fld>
            <a:endParaRPr lang="en-US"/>
          </a:p>
        </p:txBody>
      </p:sp>
    </p:spTree>
    <p:extLst>
      <p:ext uri="{BB962C8B-B14F-4D97-AF65-F5344CB8AC3E}">
        <p14:creationId xmlns:p14="http://schemas.microsoft.com/office/powerpoint/2010/main" val="67776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kern="1200" dirty="0" smtClean="0">
                <a:solidFill>
                  <a:schemeClr val="tx1"/>
                </a:solidFill>
                <a:effectLst/>
                <a:latin typeface="+mn-lt"/>
                <a:ea typeface="+mn-ea"/>
                <a:cs typeface="+mn-cs"/>
              </a:rPr>
              <a:t>📍 </a:t>
            </a:r>
            <a:r>
              <a:rPr lang="es-ES" sz="1200" b="1" kern="1200" dirty="0" err="1" smtClean="0">
                <a:solidFill>
                  <a:schemeClr val="tx1"/>
                </a:solidFill>
                <a:effectLst/>
                <a:latin typeface="+mn-lt"/>
                <a:ea typeface="+mn-ea"/>
                <a:cs typeface="+mn-cs"/>
              </a:rPr>
              <a:t>Slide</a:t>
            </a:r>
            <a:r>
              <a:rPr lang="es-ES" sz="1200" b="1" kern="1200" dirty="0" smtClean="0">
                <a:solidFill>
                  <a:schemeClr val="tx1"/>
                </a:solidFill>
                <a:effectLst/>
                <a:latin typeface="+mn-lt"/>
                <a:ea typeface="+mn-ea"/>
                <a:cs typeface="+mn-cs"/>
              </a:rPr>
              <a:t> 1: Portada y Resumen Ejecutivo</a:t>
            </a:r>
          </a:p>
          <a:p>
            <a:r>
              <a:rPr lang="es-ES" sz="1200" b="1" kern="1200" dirty="0" smtClean="0">
                <a:solidFill>
                  <a:schemeClr val="tx1"/>
                </a:solidFill>
                <a:effectLst/>
                <a:latin typeface="+mn-lt"/>
                <a:ea typeface="+mn-ea"/>
                <a:cs typeface="+mn-cs"/>
              </a:rPr>
              <a:t>[Actitud: Firma, formal y segura/o. Mirada al frente a todo el equipo]</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"Buenos días a todos los miembros del Directorio. Gracias por su tiempo.</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Hoy les vengo a presentar los resultados del análisis estratégico sobre el mercado histórico de ventas físicas de videojuegos a nivel global, abarcando cuatro décadas de información desde 1980 hasta 2020.</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En pocas palabras, la conclusión principal de este estudio es clara:</a:t>
            </a:r>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no existe un 'jugador global único'</a:t>
            </a:r>
            <a:r>
              <a:rPr lang="es-ES" sz="1200" kern="1200" dirty="0" smtClean="0">
                <a:solidFill>
                  <a:schemeClr val="tx1"/>
                </a:solidFill>
                <a:effectLst/>
                <a:latin typeface="+mn-lt"/>
                <a:ea typeface="+mn-ea"/>
                <a:cs typeface="+mn-cs"/>
              </a:rPr>
              <a:t> </a:t>
            </a:r>
            <a:r>
              <a:rPr lang="es-ES" sz="1200" i="1" kern="1200" dirty="0" smtClean="0">
                <a:solidFill>
                  <a:schemeClr val="tx1"/>
                </a:solidFill>
                <a:effectLst/>
                <a:latin typeface="+mn-lt"/>
                <a:ea typeface="+mn-ea"/>
                <a:cs typeface="+mn-cs"/>
              </a:rPr>
              <a:t>. El mercado acumuló más de 8.800 millones de copias vendidas, pero nos muestra una profunda división cultural entre Occidente y Asia. Continuar con una estrategia de marketing o lanzamiento estandarizada para todo el mundo es perder eficiencia comercial y margen operativo.</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Veamos los datos que respaldan esta conclusión."</a:t>
            </a:r>
            <a:endParaRPr lang="es-ES" sz="1200" kern="1200" dirty="0" smtClean="0">
              <a:solidFill>
                <a:schemeClr val="tx1"/>
              </a:solidFill>
              <a:effectLst/>
              <a:latin typeface="+mn-lt"/>
              <a:ea typeface="+mn-ea"/>
              <a:cs typeface="+mn-cs"/>
            </a:endParaRPr>
          </a:p>
          <a:p>
            <a:endParaRPr lang="en-US" baseline="0" dirty="0"/>
          </a:p>
        </p:txBody>
      </p:sp>
      <p:sp>
        <p:nvSpPr>
          <p:cNvPr id="4" name="Marcador de número de diapositiva 3"/>
          <p:cNvSpPr>
            <a:spLocks noGrp="1"/>
          </p:cNvSpPr>
          <p:nvPr>
            <p:ph type="sldNum" sz="quarter" idx="10"/>
          </p:nvPr>
        </p:nvSpPr>
        <p:spPr/>
        <p:txBody>
          <a:bodyPr/>
          <a:lstStyle/>
          <a:p>
            <a:fld id="{0131104C-B0C8-41BA-8A90-F1CDCE0B74F7}" type="slidenum">
              <a:rPr lang="en-US" smtClean="0"/>
              <a:t>1</a:t>
            </a:fld>
            <a:endParaRPr lang="en-US"/>
          </a:p>
        </p:txBody>
      </p:sp>
    </p:spTree>
    <p:extLst>
      <p:ext uri="{BB962C8B-B14F-4D97-AF65-F5344CB8AC3E}">
        <p14:creationId xmlns:p14="http://schemas.microsoft.com/office/powerpoint/2010/main" val="4292117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kern="1200" dirty="0" err="1" smtClean="0">
                <a:solidFill>
                  <a:schemeClr val="tx1"/>
                </a:solidFill>
                <a:effectLst/>
                <a:latin typeface="+mn-lt"/>
                <a:ea typeface="+mn-ea"/>
                <a:cs typeface="+mn-cs"/>
              </a:rPr>
              <a:t>Slide</a:t>
            </a:r>
            <a:r>
              <a:rPr lang="es-ES" sz="1200" b="1" kern="1200" dirty="0" smtClean="0">
                <a:solidFill>
                  <a:schemeClr val="tx1"/>
                </a:solidFill>
                <a:effectLst/>
                <a:latin typeface="+mn-lt"/>
                <a:ea typeface="+mn-ea"/>
                <a:cs typeface="+mn-cs"/>
              </a:rPr>
              <a:t> 2: Problema de Negocio e Hipótesis</a:t>
            </a:r>
          </a:p>
          <a:p>
            <a:r>
              <a:rPr lang="es-ES" sz="1200" b="1" kern="1200" dirty="0" smtClean="0">
                <a:solidFill>
                  <a:schemeClr val="tx1"/>
                </a:solidFill>
                <a:effectLst/>
                <a:latin typeface="+mn-lt"/>
                <a:ea typeface="+mn-ea"/>
                <a:cs typeface="+mn-cs"/>
              </a:rPr>
              <a:t>[Tono: Analítico y reflexivo. Marcar bien las preguntas]</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"Para iniciar el proyecto, nos planteamos una pregunta concreta de negocio: ¿Cómo influyen los factores culturales de cada región en las preferencias de consumo de videojuegos?</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Nuestra hipótesis de partida sugería que el mercado norteamericano está fuertemente inclinado hacia géneros de acción rápida y deportes, mientras que el mercado japonés opera como un ecosistema independiente dominado por los juegos de rol o </a:t>
            </a:r>
            <a:r>
              <a:rPr lang="es-ES" sz="1200" i="1" kern="1200" dirty="0" err="1" smtClean="0">
                <a:solidFill>
                  <a:schemeClr val="tx1"/>
                </a:solidFill>
                <a:effectLst/>
                <a:latin typeface="+mn-lt"/>
                <a:ea typeface="+mn-ea"/>
                <a:cs typeface="+mn-cs"/>
              </a:rPr>
              <a:t>RPGs</a:t>
            </a:r>
            <a:r>
              <a:rPr lang="es-ES" sz="1200" i="1" kern="1200" dirty="0" smtClean="0">
                <a:solidFill>
                  <a:schemeClr val="tx1"/>
                </a:solidFill>
                <a:effectLst/>
                <a:latin typeface="+mn-lt"/>
                <a:ea typeface="+mn-ea"/>
                <a:cs typeface="+mn-cs"/>
              </a:rPr>
              <a:t>.</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Comprobar o descartar esta premisa es fundamental para definir el presupuesto de desarrollo y distribución de nuestros próximos títulos."</a:t>
            </a:r>
            <a:endParaRPr lang="es-ES" sz="1200" kern="1200" dirty="0" smtClean="0">
              <a:solidFill>
                <a:schemeClr val="tx1"/>
              </a:solidFill>
              <a:effectLst/>
              <a:latin typeface="+mn-lt"/>
              <a:ea typeface="+mn-ea"/>
              <a:cs typeface="+mn-cs"/>
            </a:endParaRPr>
          </a:p>
          <a:p>
            <a:endParaRPr lang="en-US" dirty="0"/>
          </a:p>
        </p:txBody>
      </p:sp>
      <p:sp>
        <p:nvSpPr>
          <p:cNvPr id="4" name="Marcador de número de diapositiva 3"/>
          <p:cNvSpPr>
            <a:spLocks noGrp="1"/>
          </p:cNvSpPr>
          <p:nvPr>
            <p:ph type="sldNum" sz="quarter" idx="10"/>
          </p:nvPr>
        </p:nvSpPr>
        <p:spPr/>
        <p:txBody>
          <a:bodyPr/>
          <a:lstStyle/>
          <a:p>
            <a:fld id="{0131104C-B0C8-41BA-8A90-F1CDCE0B74F7}" type="slidenum">
              <a:rPr lang="en-US" smtClean="0"/>
              <a:t>2</a:t>
            </a:fld>
            <a:endParaRPr lang="en-US"/>
          </a:p>
        </p:txBody>
      </p:sp>
    </p:spTree>
    <p:extLst>
      <p:ext uri="{BB962C8B-B14F-4D97-AF65-F5344CB8AC3E}">
        <p14:creationId xmlns:p14="http://schemas.microsoft.com/office/powerpoint/2010/main" val="2794706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kern="1200" dirty="0" err="1" smtClean="0">
                <a:solidFill>
                  <a:schemeClr val="tx1"/>
                </a:solidFill>
                <a:effectLst/>
                <a:latin typeface="+mn-lt"/>
                <a:ea typeface="+mn-ea"/>
                <a:cs typeface="+mn-cs"/>
              </a:rPr>
              <a:t>Slide</a:t>
            </a:r>
            <a:r>
              <a:rPr lang="es-ES" sz="1200" b="1" kern="1200" dirty="0" smtClean="0">
                <a:solidFill>
                  <a:schemeClr val="tx1"/>
                </a:solidFill>
                <a:effectLst/>
                <a:latin typeface="+mn-lt"/>
                <a:ea typeface="+mn-ea"/>
                <a:cs typeface="+mn-cs"/>
              </a:rPr>
              <a:t> 3: Origen de Datos y Metodología</a:t>
            </a:r>
          </a:p>
          <a:p>
            <a:r>
              <a:rPr lang="es-ES" sz="1200" b="1" kern="1200" dirty="0" smtClean="0">
                <a:solidFill>
                  <a:schemeClr val="tx1"/>
                </a:solidFill>
                <a:effectLst/>
                <a:latin typeface="+mn-lt"/>
                <a:ea typeface="+mn-ea"/>
                <a:cs typeface="+mn-cs"/>
              </a:rPr>
              <a:t>[Tono: Técnico pero accesible. Generar confianza en la calidad del dato]</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"Para responder esto, procesamos un conjunto de datos histórico con más de 16.000 registros de lanzamientos comerciales.</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Implementamos un pipeline de análisis en Python utilizando librerías estándar de la industria como Pandas, </a:t>
            </a:r>
            <a:r>
              <a:rPr lang="es-ES" sz="1200" i="1" kern="1200" dirty="0" err="1" smtClean="0">
                <a:solidFill>
                  <a:schemeClr val="tx1"/>
                </a:solidFill>
                <a:effectLst/>
                <a:latin typeface="+mn-lt"/>
                <a:ea typeface="+mn-ea"/>
                <a:cs typeface="+mn-cs"/>
              </a:rPr>
              <a:t>NumPy</a:t>
            </a:r>
            <a:r>
              <a:rPr lang="es-ES" sz="1200" i="1" kern="1200" dirty="0" smtClean="0">
                <a:solidFill>
                  <a:schemeClr val="tx1"/>
                </a:solidFill>
                <a:effectLst/>
                <a:latin typeface="+mn-lt"/>
                <a:ea typeface="+mn-ea"/>
                <a:cs typeface="+mn-cs"/>
              </a:rPr>
              <a:t>, </a:t>
            </a:r>
            <a:r>
              <a:rPr lang="es-ES" sz="1200" i="1" kern="1200" dirty="0" err="1" smtClean="0">
                <a:solidFill>
                  <a:schemeClr val="tx1"/>
                </a:solidFill>
                <a:effectLst/>
                <a:latin typeface="+mn-lt"/>
                <a:ea typeface="+mn-ea"/>
                <a:cs typeface="+mn-cs"/>
              </a:rPr>
              <a:t>Matplotlib</a:t>
            </a:r>
            <a:r>
              <a:rPr lang="es-ES" sz="1200" i="1" kern="1200" dirty="0" smtClean="0">
                <a:solidFill>
                  <a:schemeClr val="tx1"/>
                </a:solidFill>
                <a:effectLst/>
                <a:latin typeface="+mn-lt"/>
                <a:ea typeface="+mn-ea"/>
                <a:cs typeface="+mn-cs"/>
              </a:rPr>
              <a:t> y </a:t>
            </a:r>
            <a:r>
              <a:rPr lang="es-ES" sz="1200" i="1" kern="1200" dirty="0" err="1" smtClean="0">
                <a:solidFill>
                  <a:schemeClr val="tx1"/>
                </a:solidFill>
                <a:effectLst/>
                <a:latin typeface="+mn-lt"/>
                <a:ea typeface="+mn-ea"/>
                <a:cs typeface="+mn-cs"/>
              </a:rPr>
              <a:t>Seaborn</a:t>
            </a:r>
            <a:r>
              <a:rPr lang="es-ES" sz="1200" i="1" kern="1200" dirty="0" smtClean="0">
                <a:solidFill>
                  <a:schemeClr val="tx1"/>
                </a:solidFill>
                <a:effectLst/>
                <a:latin typeface="+mn-lt"/>
                <a:ea typeface="+mn-ea"/>
                <a:cs typeface="+mn-cs"/>
              </a:rPr>
              <a:t>. Realizamos una limpieza rigurosa: eliminamos registros duplicados, tratamos valores nulos y estandarizamos la clasificación de géneros y regiones para garantizar que nuestras métricas sean totalmente confiables."</a:t>
            </a:r>
            <a:endParaRPr lang="es-ES" sz="1200" kern="1200" dirty="0" smtClean="0">
              <a:solidFill>
                <a:schemeClr val="tx1"/>
              </a:solidFill>
              <a:effectLst/>
              <a:latin typeface="+mn-lt"/>
              <a:ea typeface="+mn-ea"/>
              <a:cs typeface="+mn-cs"/>
            </a:endParaRPr>
          </a:p>
          <a:p>
            <a:endParaRPr lang="en-US" dirty="0"/>
          </a:p>
        </p:txBody>
      </p:sp>
      <p:sp>
        <p:nvSpPr>
          <p:cNvPr id="4" name="Marcador de número de diapositiva 3"/>
          <p:cNvSpPr>
            <a:spLocks noGrp="1"/>
          </p:cNvSpPr>
          <p:nvPr>
            <p:ph type="sldNum" sz="quarter" idx="10"/>
          </p:nvPr>
        </p:nvSpPr>
        <p:spPr/>
        <p:txBody>
          <a:bodyPr/>
          <a:lstStyle/>
          <a:p>
            <a:fld id="{0131104C-B0C8-41BA-8A90-F1CDCE0B74F7}" type="slidenum">
              <a:rPr lang="en-US" smtClean="0"/>
              <a:t>3</a:t>
            </a:fld>
            <a:endParaRPr lang="en-US"/>
          </a:p>
        </p:txBody>
      </p:sp>
    </p:spTree>
    <p:extLst>
      <p:ext uri="{BB962C8B-B14F-4D97-AF65-F5344CB8AC3E}">
        <p14:creationId xmlns:p14="http://schemas.microsoft.com/office/powerpoint/2010/main" val="617529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kern="1200" dirty="0" err="1" smtClean="0">
                <a:solidFill>
                  <a:schemeClr val="tx1"/>
                </a:solidFill>
                <a:effectLst/>
                <a:latin typeface="+mn-lt"/>
                <a:ea typeface="+mn-ea"/>
                <a:cs typeface="+mn-cs"/>
              </a:rPr>
              <a:t>Slide</a:t>
            </a:r>
            <a:r>
              <a:rPr lang="es-ES" sz="1200" b="1" kern="1200" dirty="0" smtClean="0">
                <a:solidFill>
                  <a:schemeClr val="tx1"/>
                </a:solidFill>
                <a:effectLst/>
                <a:latin typeface="+mn-lt"/>
                <a:ea typeface="+mn-ea"/>
                <a:cs typeface="+mn-cs"/>
              </a:rPr>
              <a:t> 4: Indicadores Clave de Desempeño (</a:t>
            </a:r>
            <a:r>
              <a:rPr lang="es-ES" sz="1200" b="1" kern="1200" dirty="0" err="1" smtClean="0">
                <a:solidFill>
                  <a:schemeClr val="tx1"/>
                </a:solidFill>
                <a:effectLst/>
                <a:latin typeface="+mn-lt"/>
                <a:ea typeface="+mn-ea"/>
                <a:cs typeface="+mn-cs"/>
              </a:rPr>
              <a:t>KPIs</a:t>
            </a:r>
            <a:r>
              <a:rPr lang="es-ES" sz="1200" b="1" kern="1200" dirty="0" smtClean="0">
                <a:solidFill>
                  <a:schemeClr val="tx1"/>
                </a:solidFill>
                <a:effectLst/>
                <a:latin typeface="+mn-lt"/>
                <a:ea typeface="+mn-ea"/>
                <a:cs typeface="+mn-cs"/>
              </a:rPr>
              <a:t>)</a:t>
            </a:r>
          </a:p>
          <a:p>
            <a:r>
              <a:rPr lang="es-ES" sz="1200" b="1" kern="1200" dirty="0" smtClean="0">
                <a:solidFill>
                  <a:schemeClr val="tx1"/>
                </a:solidFill>
                <a:effectLst/>
                <a:latin typeface="+mn-lt"/>
                <a:ea typeface="+mn-ea"/>
                <a:cs typeface="+mn-cs"/>
              </a:rPr>
              <a:t>[Tono: Enfático. Hacer pausas breves al nombrar cada cifra para que impacten]</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"Pasando al resumen ejecutivo de indicadores, destacamos cuatro </a:t>
            </a:r>
            <a:r>
              <a:rPr lang="es-ES" sz="1200" i="1" kern="1200" dirty="0" err="1" smtClean="0">
                <a:solidFill>
                  <a:schemeClr val="tx1"/>
                </a:solidFill>
                <a:effectLst/>
                <a:latin typeface="+mn-lt"/>
                <a:ea typeface="+mn-ea"/>
                <a:cs typeface="+mn-cs"/>
              </a:rPr>
              <a:t>KPIs</a:t>
            </a:r>
            <a:r>
              <a:rPr lang="es-ES" sz="1200" i="1" kern="1200" dirty="0" smtClean="0">
                <a:solidFill>
                  <a:schemeClr val="tx1"/>
                </a:solidFill>
                <a:effectLst/>
                <a:latin typeface="+mn-lt"/>
                <a:ea typeface="+mn-ea"/>
                <a:cs typeface="+mn-cs"/>
              </a:rPr>
              <a:t> principales:</a:t>
            </a:r>
            <a:endParaRPr lang="es-ES" sz="1200" kern="1200" dirty="0" smtClean="0">
              <a:solidFill>
                <a:schemeClr val="tx1"/>
              </a:solidFill>
              <a:effectLst/>
              <a:latin typeface="+mn-lt"/>
              <a:ea typeface="+mn-ea"/>
              <a:cs typeface="+mn-cs"/>
            </a:endParaRPr>
          </a:p>
          <a:p>
            <a:r>
              <a:rPr lang="es-ES" sz="1200" b="1" kern="1200" dirty="0" smtClean="0">
                <a:solidFill>
                  <a:schemeClr val="tx1"/>
                </a:solidFill>
                <a:effectLst/>
                <a:latin typeface="+mn-lt"/>
                <a:ea typeface="+mn-ea"/>
                <a:cs typeface="+mn-cs"/>
              </a:rPr>
              <a:t>8.820 millones de copias físicas:</a:t>
            </a:r>
            <a:r>
              <a:rPr lang="es-ES" sz="1200" kern="1200" dirty="0" smtClean="0">
                <a:solidFill>
                  <a:schemeClr val="tx1"/>
                </a:solidFill>
                <a:effectLst/>
                <a:latin typeface="+mn-lt"/>
                <a:ea typeface="+mn-ea"/>
                <a:cs typeface="+mn-cs"/>
              </a:rPr>
              <a:t> Es el volumen histórico acumulado que movió esta industria.*</a:t>
            </a:r>
          </a:p>
          <a:p>
            <a:r>
              <a:rPr lang="es-ES" sz="1200" b="1" kern="1200" dirty="0" smtClean="0">
                <a:solidFill>
                  <a:schemeClr val="tx1"/>
                </a:solidFill>
                <a:effectLst/>
                <a:latin typeface="+mn-lt"/>
                <a:ea typeface="+mn-ea"/>
                <a:cs typeface="+mn-cs"/>
              </a:rPr>
              <a:t>0,54 millones de copias por título:</a:t>
            </a:r>
            <a:r>
              <a:rPr lang="es-ES" sz="1200" kern="1200" dirty="0" smtClean="0">
                <a:solidFill>
                  <a:schemeClr val="tx1"/>
                </a:solidFill>
                <a:effectLst/>
                <a:latin typeface="+mn-lt"/>
                <a:ea typeface="+mn-ea"/>
                <a:cs typeface="+mn-cs"/>
              </a:rPr>
              <a:t> Este es nuestro promedio por videojuego publicado. Nos demuestra la gran asimetría del sector: la gran mayoría de los títulos tiene ventas modestas, mientras que un grupo muy reducido de 'superventas' genera la mayor parte de los ingresos.*</a:t>
            </a:r>
          </a:p>
          <a:p>
            <a:r>
              <a:rPr lang="es-ES" sz="1200" b="1" kern="1200" dirty="0" smtClean="0">
                <a:solidFill>
                  <a:schemeClr val="tx1"/>
                </a:solidFill>
                <a:effectLst/>
                <a:latin typeface="+mn-lt"/>
                <a:ea typeface="+mn-ea"/>
                <a:cs typeface="+mn-cs"/>
              </a:rPr>
              <a:t>49,1% de Cuota de Mercado en Norteamérica:</a:t>
            </a:r>
            <a:r>
              <a:rPr lang="es-ES" sz="1200" kern="1200" dirty="0" smtClean="0">
                <a:solidFill>
                  <a:schemeClr val="tx1"/>
                </a:solidFill>
                <a:effectLst/>
                <a:latin typeface="+mn-lt"/>
                <a:ea typeface="+mn-ea"/>
                <a:cs typeface="+mn-cs"/>
              </a:rPr>
              <a:t> Prácticamente la mitad de las ventas físicas globales provienen de esta región.*</a:t>
            </a:r>
          </a:p>
          <a:p>
            <a:r>
              <a:rPr lang="es-ES" sz="1200" b="1" kern="1200" dirty="0" smtClean="0">
                <a:solidFill>
                  <a:schemeClr val="tx1"/>
                </a:solidFill>
                <a:effectLst/>
                <a:latin typeface="+mn-lt"/>
                <a:ea typeface="+mn-ea"/>
                <a:cs typeface="+mn-cs"/>
              </a:rPr>
              <a:t>14,6% de Cuota en Japón:</a:t>
            </a:r>
            <a:r>
              <a:rPr lang="es-ES" sz="1200" kern="1200" dirty="0" smtClean="0">
                <a:solidFill>
                  <a:schemeClr val="tx1"/>
                </a:solidFill>
                <a:effectLst/>
                <a:latin typeface="+mn-lt"/>
                <a:ea typeface="+mn-ea"/>
                <a:cs typeface="+mn-cs"/>
              </a:rPr>
              <a:t> Un volumen menor en porcentaje global, pero como veremos a continuación, con un comportamiento estratégico vital."*</a:t>
            </a:r>
          </a:p>
          <a:p>
            <a:endParaRPr lang="en-US" dirty="0"/>
          </a:p>
        </p:txBody>
      </p:sp>
      <p:sp>
        <p:nvSpPr>
          <p:cNvPr id="4" name="Marcador de número de diapositiva 3"/>
          <p:cNvSpPr>
            <a:spLocks noGrp="1"/>
          </p:cNvSpPr>
          <p:nvPr>
            <p:ph type="sldNum" sz="quarter" idx="10"/>
          </p:nvPr>
        </p:nvSpPr>
        <p:spPr/>
        <p:txBody>
          <a:bodyPr/>
          <a:lstStyle/>
          <a:p>
            <a:fld id="{0131104C-B0C8-41BA-8A90-F1CDCE0B74F7}" type="slidenum">
              <a:rPr lang="en-US" smtClean="0"/>
              <a:t>5</a:t>
            </a:fld>
            <a:endParaRPr lang="en-US"/>
          </a:p>
        </p:txBody>
      </p:sp>
    </p:spTree>
    <p:extLst>
      <p:ext uri="{BB962C8B-B14F-4D97-AF65-F5344CB8AC3E}">
        <p14:creationId xmlns:p14="http://schemas.microsoft.com/office/powerpoint/2010/main" val="624295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kern="1200" dirty="0" err="1" smtClean="0">
                <a:solidFill>
                  <a:schemeClr val="tx1"/>
                </a:solidFill>
                <a:effectLst/>
                <a:latin typeface="+mn-lt"/>
                <a:ea typeface="+mn-ea"/>
                <a:cs typeface="+mn-cs"/>
              </a:rPr>
              <a:t>Slide</a:t>
            </a:r>
            <a:r>
              <a:rPr lang="es-ES" sz="1200" b="1" kern="1200" dirty="0" smtClean="0">
                <a:solidFill>
                  <a:schemeClr val="tx1"/>
                </a:solidFill>
                <a:effectLst/>
                <a:latin typeface="+mn-lt"/>
                <a:ea typeface="+mn-ea"/>
                <a:cs typeface="+mn-cs"/>
              </a:rPr>
              <a:t> 5: Hallazgo #1 — Divergencia Cultural (Norteamérica vs. Japón)</a:t>
            </a:r>
          </a:p>
          <a:p>
            <a:r>
              <a:rPr lang="es-ES" sz="1200" b="1" kern="1200" dirty="0" smtClean="0">
                <a:solidFill>
                  <a:schemeClr val="tx1"/>
                </a:solidFill>
                <a:effectLst/>
                <a:latin typeface="+mn-lt"/>
                <a:ea typeface="+mn-ea"/>
                <a:cs typeface="+mn-cs"/>
              </a:rPr>
              <a:t>[Señalar el gráfico comparativo en pantalla. Tono de '</a:t>
            </a:r>
            <a:r>
              <a:rPr lang="es-ES" sz="1200" b="1" kern="1200" dirty="0" err="1" smtClean="0">
                <a:solidFill>
                  <a:schemeClr val="tx1"/>
                </a:solidFill>
                <a:effectLst/>
                <a:latin typeface="+mn-lt"/>
                <a:ea typeface="+mn-ea"/>
                <a:cs typeface="+mn-cs"/>
              </a:rPr>
              <a:t>Aha</a:t>
            </a:r>
            <a:r>
              <a:rPr lang="es-ES" sz="1200" b="1" kern="1200" dirty="0" smtClean="0">
                <a:solidFill>
                  <a:schemeClr val="tx1"/>
                </a:solidFill>
                <a:effectLst/>
                <a:latin typeface="+mn-lt"/>
                <a:ea typeface="+mn-ea"/>
                <a:cs typeface="+mn-cs"/>
              </a:rPr>
              <a:t>! </a:t>
            </a:r>
            <a:r>
              <a:rPr lang="es-ES" sz="1200" b="1" kern="1200" dirty="0" err="1" smtClean="0">
                <a:solidFill>
                  <a:schemeClr val="tx1"/>
                </a:solidFill>
                <a:effectLst/>
                <a:latin typeface="+mn-lt"/>
                <a:ea typeface="+mn-ea"/>
                <a:cs typeface="+mn-cs"/>
              </a:rPr>
              <a:t>Moment</a:t>
            </a:r>
            <a:r>
              <a:rPr lang="es-ES" sz="1200" b="1" kern="1200" dirty="0" smtClean="0">
                <a:solidFill>
                  <a:schemeClr val="tx1"/>
                </a:solidFill>
                <a:effectLst/>
                <a:latin typeface="+mn-lt"/>
                <a:ea typeface="+mn-ea"/>
                <a:cs typeface="+mn-cs"/>
              </a:rPr>
              <a:t>']</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"Este es el primer gran hallazgo estratégico de la investigación.</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Si observan el gráfico comparativo en pantalla, a la izquierda vemos a</a:t>
            </a:r>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Norteamérica</a:t>
            </a:r>
            <a:r>
              <a:rPr lang="es-ES" sz="1200" kern="1200" dirty="0" smtClean="0">
                <a:solidFill>
                  <a:schemeClr val="tx1"/>
                </a:solidFill>
                <a:effectLst/>
                <a:latin typeface="+mn-lt"/>
                <a:ea typeface="+mn-ea"/>
                <a:cs typeface="+mn-cs"/>
              </a:rPr>
              <a:t> </a:t>
            </a:r>
            <a:r>
              <a:rPr lang="es-ES" sz="1200" i="1" kern="1200" dirty="0" smtClean="0">
                <a:solidFill>
                  <a:schemeClr val="tx1"/>
                </a:solidFill>
                <a:effectLst/>
                <a:latin typeface="+mn-lt"/>
                <a:ea typeface="+mn-ea"/>
                <a:cs typeface="+mn-cs"/>
              </a:rPr>
              <a:t>: los géneros más vendidos son Acción, Deportes y Disparos (</a:t>
            </a:r>
            <a:r>
              <a:rPr lang="es-ES" sz="1200" i="1" kern="1200" dirty="0" err="1" smtClean="0">
                <a:solidFill>
                  <a:schemeClr val="tx1"/>
                </a:solidFill>
                <a:effectLst/>
                <a:latin typeface="+mn-lt"/>
                <a:ea typeface="+mn-ea"/>
                <a:cs typeface="+mn-cs"/>
              </a:rPr>
              <a:t>Shooters</a:t>
            </a:r>
            <a:r>
              <a:rPr lang="es-ES" sz="1200" i="1" kern="1200" dirty="0" smtClean="0">
                <a:solidFill>
                  <a:schemeClr val="tx1"/>
                </a:solidFill>
                <a:effectLst/>
                <a:latin typeface="+mn-lt"/>
                <a:ea typeface="+mn-ea"/>
                <a:cs typeface="+mn-cs"/>
              </a:rPr>
              <a:t>).</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Sin embargo, miren el gráfico de la derecha: en</a:t>
            </a:r>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Japón</a:t>
            </a:r>
            <a:r>
              <a:rPr lang="es-ES" sz="1200" kern="1200" dirty="0" smtClean="0">
                <a:solidFill>
                  <a:schemeClr val="tx1"/>
                </a:solidFill>
                <a:effectLst/>
                <a:latin typeface="+mn-lt"/>
                <a:ea typeface="+mn-ea"/>
                <a:cs typeface="+mn-cs"/>
              </a:rPr>
              <a:t> </a:t>
            </a:r>
            <a:r>
              <a:rPr lang="es-ES" sz="1200" i="1" kern="1200" dirty="0" smtClean="0">
                <a:solidFill>
                  <a:schemeClr val="tx1"/>
                </a:solidFill>
                <a:effectLst/>
                <a:latin typeface="+mn-lt"/>
                <a:ea typeface="+mn-ea"/>
                <a:cs typeface="+mn-cs"/>
              </a:rPr>
              <a:t>, el género de</a:t>
            </a:r>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Rol (RPG)</a:t>
            </a:r>
            <a:r>
              <a:rPr lang="es-ES" sz="1200" kern="1200" dirty="0" smtClean="0">
                <a:solidFill>
                  <a:schemeClr val="tx1"/>
                </a:solidFill>
                <a:effectLst/>
                <a:latin typeface="+mn-lt"/>
                <a:ea typeface="+mn-ea"/>
                <a:cs typeface="+mn-cs"/>
              </a:rPr>
              <a:t> </a:t>
            </a:r>
            <a:r>
              <a:rPr lang="es-ES" sz="1200" i="1" kern="1200" dirty="0" smtClean="0">
                <a:solidFill>
                  <a:schemeClr val="tx1"/>
                </a:solidFill>
                <a:effectLst/>
                <a:latin typeface="+mn-lt"/>
                <a:ea typeface="+mn-ea"/>
                <a:cs typeface="+mn-cs"/>
              </a:rPr>
              <a:t>ocupa el primer puesto de manera indiscutida, superando por más del doble a los demás géneros.</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¿Qué nos dice esto comercialmente? Un juego de disparos diseñado para el público estadounidense fracasará en Japón si no se adapta a sus dinámicas locales, y viceversa."</a:t>
            </a:r>
            <a:endParaRPr lang="es-ES" sz="1200" kern="1200" dirty="0" smtClean="0">
              <a:solidFill>
                <a:schemeClr val="tx1"/>
              </a:solidFill>
              <a:effectLst/>
              <a:latin typeface="+mn-lt"/>
              <a:ea typeface="+mn-ea"/>
              <a:cs typeface="+mn-cs"/>
            </a:endParaRPr>
          </a:p>
          <a:p>
            <a:endParaRPr lang="en-US" dirty="0"/>
          </a:p>
        </p:txBody>
      </p:sp>
      <p:sp>
        <p:nvSpPr>
          <p:cNvPr id="4" name="Marcador de número de diapositiva 3"/>
          <p:cNvSpPr>
            <a:spLocks noGrp="1"/>
          </p:cNvSpPr>
          <p:nvPr>
            <p:ph type="sldNum" sz="quarter" idx="10"/>
          </p:nvPr>
        </p:nvSpPr>
        <p:spPr/>
        <p:txBody>
          <a:bodyPr/>
          <a:lstStyle/>
          <a:p>
            <a:fld id="{0131104C-B0C8-41BA-8A90-F1CDCE0B74F7}" type="slidenum">
              <a:rPr lang="en-US" smtClean="0"/>
              <a:t>6</a:t>
            </a:fld>
            <a:endParaRPr lang="en-US"/>
          </a:p>
        </p:txBody>
      </p:sp>
    </p:spTree>
    <p:extLst>
      <p:ext uri="{BB962C8B-B14F-4D97-AF65-F5344CB8AC3E}">
        <p14:creationId xmlns:p14="http://schemas.microsoft.com/office/powerpoint/2010/main" val="4018816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kern="1200" dirty="0" err="1" smtClean="0">
                <a:solidFill>
                  <a:schemeClr val="tx1"/>
                </a:solidFill>
                <a:effectLst/>
                <a:latin typeface="+mn-lt"/>
                <a:ea typeface="+mn-ea"/>
                <a:cs typeface="+mn-cs"/>
              </a:rPr>
              <a:t>Slide</a:t>
            </a:r>
            <a:r>
              <a:rPr lang="es-ES" sz="1200" b="1" kern="1200" dirty="0" smtClean="0">
                <a:solidFill>
                  <a:schemeClr val="tx1"/>
                </a:solidFill>
                <a:effectLst/>
                <a:latin typeface="+mn-lt"/>
                <a:ea typeface="+mn-ea"/>
                <a:cs typeface="+mn-cs"/>
              </a:rPr>
              <a:t> 6: Hallazgo #2 — La "Guerra de Consolas" (</a:t>
            </a:r>
            <a:r>
              <a:rPr lang="es-ES" sz="1200" b="1" kern="1200" dirty="0" err="1" smtClean="0">
                <a:solidFill>
                  <a:schemeClr val="tx1"/>
                </a:solidFill>
                <a:effectLst/>
                <a:latin typeface="+mn-lt"/>
                <a:ea typeface="+mn-ea"/>
                <a:cs typeface="+mn-cs"/>
              </a:rPr>
              <a:t>Market</a:t>
            </a:r>
            <a:r>
              <a:rPr lang="es-ES" sz="1200" b="1" kern="1200" dirty="0" smtClean="0">
                <a:solidFill>
                  <a:schemeClr val="tx1"/>
                </a:solidFill>
                <a:effectLst/>
                <a:latin typeface="+mn-lt"/>
                <a:ea typeface="+mn-ea"/>
                <a:cs typeface="+mn-cs"/>
              </a:rPr>
              <a:t> Share)</a:t>
            </a:r>
          </a:p>
          <a:p>
            <a:r>
              <a:rPr lang="es-ES" sz="1200" b="1" kern="1200" dirty="0" smtClean="0">
                <a:solidFill>
                  <a:schemeClr val="tx1"/>
                </a:solidFill>
                <a:effectLst/>
                <a:latin typeface="+mn-lt"/>
                <a:ea typeface="+mn-ea"/>
                <a:cs typeface="+mn-cs"/>
              </a:rPr>
              <a:t>[Tono: Competitivo / Perspectiva de mercado]</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"En cuanto a las plataformas y fabricantes, la cuota de mercado acumulada está liderada históricamente por la competencia entre</a:t>
            </a:r>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Nintendo</a:t>
            </a:r>
            <a:r>
              <a:rPr lang="es-ES" sz="1200" kern="1200" dirty="0" smtClean="0">
                <a:solidFill>
                  <a:schemeClr val="tx1"/>
                </a:solidFill>
                <a:effectLst/>
                <a:latin typeface="+mn-lt"/>
                <a:ea typeface="+mn-ea"/>
                <a:cs typeface="+mn-cs"/>
              </a:rPr>
              <a:t> </a:t>
            </a:r>
            <a:r>
              <a:rPr lang="es-ES" sz="1200" i="1" kern="1200" dirty="0" smtClean="0">
                <a:solidFill>
                  <a:schemeClr val="tx1"/>
                </a:solidFill>
                <a:effectLst/>
                <a:latin typeface="+mn-lt"/>
                <a:ea typeface="+mn-ea"/>
                <a:cs typeface="+mn-cs"/>
              </a:rPr>
              <a:t>y</a:t>
            </a:r>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Sony</a:t>
            </a:r>
            <a:r>
              <a:rPr lang="es-ES" sz="1200" kern="1200" dirty="0" smtClean="0">
                <a:solidFill>
                  <a:schemeClr val="tx1"/>
                </a:solidFill>
                <a:effectLst/>
                <a:latin typeface="+mn-lt"/>
                <a:ea typeface="+mn-ea"/>
                <a:cs typeface="+mn-cs"/>
              </a:rPr>
              <a:t> </a:t>
            </a:r>
            <a:r>
              <a:rPr lang="es-ES" sz="1200" i="1" kern="1200" dirty="0" smtClean="0">
                <a:solidFill>
                  <a:schemeClr val="tx1"/>
                </a:solidFill>
                <a:effectLst/>
                <a:latin typeface="+mn-lt"/>
                <a:ea typeface="+mn-ea"/>
                <a:cs typeface="+mn-cs"/>
              </a:rPr>
              <a:t>, seguidos por</a:t>
            </a:r>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Microsoft</a:t>
            </a:r>
            <a:r>
              <a:rPr lang="es-ES" sz="1200" kern="1200" dirty="0" smtClean="0">
                <a:solidFill>
                  <a:schemeClr val="tx1"/>
                </a:solidFill>
                <a:effectLst/>
                <a:latin typeface="+mn-lt"/>
                <a:ea typeface="+mn-ea"/>
                <a:cs typeface="+mn-cs"/>
              </a:rPr>
              <a:t> </a:t>
            </a:r>
            <a:r>
              <a:rPr lang="es-ES" sz="1200" i="1" kern="1200" dirty="0" smtClean="0">
                <a:solidFill>
                  <a:schemeClr val="tx1"/>
                </a:solidFill>
                <a:effectLst/>
                <a:latin typeface="+mn-lt"/>
                <a:ea typeface="+mn-ea"/>
                <a:cs typeface="+mn-cs"/>
              </a:rPr>
              <a:t>.</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Un dato clave de negocio: mientras Microsoft logró consolidar una posición fuerte en Occidente con la familia Xbox, su penetración en el mercado asiático ha sido históricamente marginal. Si decidimos publicar en plataformas de Microsoft, debemos saber de antemano que nuestro foco casi exclusivo será el mercado occidental."</a:t>
            </a:r>
            <a:endParaRPr lang="es-ES" sz="1200" kern="1200" dirty="0" smtClean="0">
              <a:solidFill>
                <a:schemeClr val="tx1"/>
              </a:solidFill>
              <a:effectLst/>
              <a:latin typeface="+mn-lt"/>
              <a:ea typeface="+mn-ea"/>
              <a:cs typeface="+mn-cs"/>
            </a:endParaRPr>
          </a:p>
          <a:p>
            <a:endParaRPr lang="en-US" dirty="0"/>
          </a:p>
        </p:txBody>
      </p:sp>
      <p:sp>
        <p:nvSpPr>
          <p:cNvPr id="4" name="Marcador de número de diapositiva 3"/>
          <p:cNvSpPr>
            <a:spLocks noGrp="1"/>
          </p:cNvSpPr>
          <p:nvPr>
            <p:ph type="sldNum" sz="quarter" idx="10"/>
          </p:nvPr>
        </p:nvSpPr>
        <p:spPr/>
        <p:txBody>
          <a:bodyPr/>
          <a:lstStyle/>
          <a:p>
            <a:fld id="{0131104C-B0C8-41BA-8A90-F1CDCE0B74F7}" type="slidenum">
              <a:rPr lang="en-US" smtClean="0"/>
              <a:t>7</a:t>
            </a:fld>
            <a:endParaRPr lang="en-US"/>
          </a:p>
        </p:txBody>
      </p:sp>
    </p:spTree>
    <p:extLst>
      <p:ext uri="{BB962C8B-B14F-4D97-AF65-F5344CB8AC3E}">
        <p14:creationId xmlns:p14="http://schemas.microsoft.com/office/powerpoint/2010/main" val="26189872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kern="1200" dirty="0" err="1" smtClean="0">
                <a:solidFill>
                  <a:schemeClr val="tx1"/>
                </a:solidFill>
                <a:effectLst/>
                <a:latin typeface="+mn-lt"/>
                <a:ea typeface="+mn-ea"/>
                <a:cs typeface="+mn-cs"/>
              </a:rPr>
              <a:t>Slide</a:t>
            </a:r>
            <a:r>
              <a:rPr lang="es-ES" sz="1200" b="1" kern="1200" dirty="0" smtClean="0">
                <a:solidFill>
                  <a:schemeClr val="tx1"/>
                </a:solidFill>
                <a:effectLst/>
                <a:latin typeface="+mn-lt"/>
                <a:ea typeface="+mn-ea"/>
                <a:cs typeface="+mn-cs"/>
              </a:rPr>
              <a:t> 7: Hallazgo #3 — Matriz de Correlación Regional</a:t>
            </a:r>
          </a:p>
          <a:p>
            <a:r>
              <a:rPr lang="es-ES" sz="1200" b="1" kern="1200" dirty="0" smtClean="0">
                <a:solidFill>
                  <a:schemeClr val="tx1"/>
                </a:solidFill>
                <a:effectLst/>
                <a:latin typeface="+mn-lt"/>
                <a:ea typeface="+mn-ea"/>
                <a:cs typeface="+mn-cs"/>
              </a:rPr>
              <a:t>[Tono: Estadístico y concluyente]</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"Para validar esto matemáticamente, calculamos la matriz de correlación entre los volúmenes de venta regional.</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Encontramos una correlación muy alta entre</a:t>
            </a:r>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Norteamérica y Europa (r = 0,89)</a:t>
            </a:r>
            <a:r>
              <a:rPr lang="es-ES" sz="1200" kern="1200" dirty="0" smtClean="0">
                <a:solidFill>
                  <a:schemeClr val="tx1"/>
                </a:solidFill>
                <a:effectLst/>
                <a:latin typeface="+mn-lt"/>
                <a:ea typeface="+mn-ea"/>
                <a:cs typeface="+mn-cs"/>
              </a:rPr>
              <a:t> </a:t>
            </a:r>
            <a:r>
              <a:rPr lang="es-ES" sz="1200" i="1" kern="1200" dirty="0" smtClean="0">
                <a:solidFill>
                  <a:schemeClr val="tx1"/>
                </a:solidFill>
                <a:effectLst/>
                <a:latin typeface="+mn-lt"/>
                <a:ea typeface="+mn-ea"/>
                <a:cs typeface="+mn-cs"/>
              </a:rPr>
              <a:t>. Esto significa que lo que funciona en Estados Unidos, casi seguro funcionará en Europa.</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Sin embargo, cuando comparamos las ventas de Occidente contra</a:t>
            </a:r>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Japón</a:t>
            </a:r>
            <a:r>
              <a:rPr lang="es-ES" sz="1200" kern="1200" dirty="0" smtClean="0">
                <a:solidFill>
                  <a:schemeClr val="tx1"/>
                </a:solidFill>
                <a:effectLst/>
                <a:latin typeface="+mn-lt"/>
                <a:ea typeface="+mn-ea"/>
                <a:cs typeface="+mn-cs"/>
              </a:rPr>
              <a:t> </a:t>
            </a:r>
            <a:r>
              <a:rPr lang="es-ES" sz="1200" i="1" kern="1200" dirty="0" smtClean="0">
                <a:solidFill>
                  <a:schemeClr val="tx1"/>
                </a:solidFill>
                <a:effectLst/>
                <a:latin typeface="+mn-lt"/>
                <a:ea typeface="+mn-ea"/>
                <a:cs typeface="+mn-cs"/>
              </a:rPr>
              <a:t>, la correlación cae a</a:t>
            </a:r>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0,44</a:t>
            </a:r>
            <a:r>
              <a:rPr lang="es-ES" sz="1200" kern="1200" dirty="0" smtClean="0">
                <a:solidFill>
                  <a:schemeClr val="tx1"/>
                </a:solidFill>
                <a:effectLst/>
                <a:latin typeface="+mn-lt"/>
                <a:ea typeface="+mn-ea"/>
                <a:cs typeface="+mn-cs"/>
              </a:rPr>
              <a:t> </a:t>
            </a:r>
            <a:r>
              <a:rPr lang="es-ES" sz="1200" i="1" kern="1200" dirty="0" smtClean="0">
                <a:solidFill>
                  <a:schemeClr val="tx1"/>
                </a:solidFill>
                <a:effectLst/>
                <a:latin typeface="+mn-lt"/>
                <a:ea typeface="+mn-ea"/>
                <a:cs typeface="+mn-cs"/>
              </a:rPr>
              <a:t>. La estadística nos confirma que Japón se comporta como un mercado autónomo e independiente."</a:t>
            </a:r>
            <a:endParaRPr lang="es-ES" sz="1200" kern="1200" dirty="0" smtClean="0">
              <a:solidFill>
                <a:schemeClr val="tx1"/>
              </a:solidFill>
              <a:effectLst/>
              <a:latin typeface="+mn-lt"/>
              <a:ea typeface="+mn-ea"/>
              <a:cs typeface="+mn-cs"/>
            </a:endParaRPr>
          </a:p>
          <a:p>
            <a:endParaRPr lang="en-US" dirty="0"/>
          </a:p>
        </p:txBody>
      </p:sp>
      <p:sp>
        <p:nvSpPr>
          <p:cNvPr id="4" name="Marcador de número de diapositiva 3"/>
          <p:cNvSpPr>
            <a:spLocks noGrp="1"/>
          </p:cNvSpPr>
          <p:nvPr>
            <p:ph type="sldNum" sz="quarter" idx="10"/>
          </p:nvPr>
        </p:nvSpPr>
        <p:spPr/>
        <p:txBody>
          <a:bodyPr/>
          <a:lstStyle/>
          <a:p>
            <a:fld id="{0131104C-B0C8-41BA-8A90-F1CDCE0B74F7}" type="slidenum">
              <a:rPr lang="en-US" smtClean="0"/>
              <a:t>8</a:t>
            </a:fld>
            <a:endParaRPr lang="en-US"/>
          </a:p>
        </p:txBody>
      </p:sp>
    </p:spTree>
    <p:extLst>
      <p:ext uri="{BB962C8B-B14F-4D97-AF65-F5344CB8AC3E}">
        <p14:creationId xmlns:p14="http://schemas.microsoft.com/office/powerpoint/2010/main" val="26314832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kern="1200" dirty="0" smtClean="0">
                <a:solidFill>
                  <a:schemeClr val="tx1"/>
                </a:solidFill>
                <a:effectLst/>
                <a:latin typeface="+mn-lt"/>
                <a:ea typeface="+mn-ea"/>
                <a:cs typeface="+mn-cs"/>
              </a:rPr>
              <a:t>📍 </a:t>
            </a:r>
            <a:r>
              <a:rPr lang="es-ES" sz="1200" b="1" kern="1200" dirty="0" err="1" smtClean="0">
                <a:solidFill>
                  <a:schemeClr val="tx1"/>
                </a:solidFill>
                <a:effectLst/>
                <a:latin typeface="+mn-lt"/>
                <a:ea typeface="+mn-ea"/>
                <a:cs typeface="+mn-cs"/>
              </a:rPr>
              <a:t>Slide</a:t>
            </a:r>
            <a:r>
              <a:rPr lang="es-ES" sz="1200" b="1" kern="1200" dirty="0" smtClean="0">
                <a:solidFill>
                  <a:schemeClr val="tx1"/>
                </a:solidFill>
                <a:effectLst/>
                <a:latin typeface="+mn-lt"/>
                <a:ea typeface="+mn-ea"/>
                <a:cs typeface="+mn-cs"/>
              </a:rPr>
              <a:t> 8: Recomendaciones Estratégicas de Negocio</a:t>
            </a:r>
          </a:p>
          <a:p>
            <a:r>
              <a:rPr lang="es-ES" sz="1200" b="1" kern="1200" dirty="0" smtClean="0">
                <a:solidFill>
                  <a:schemeClr val="tx1"/>
                </a:solidFill>
                <a:effectLst/>
                <a:latin typeface="+mn-lt"/>
                <a:ea typeface="+mn-ea"/>
                <a:cs typeface="+mn-cs"/>
              </a:rPr>
              <a:t>[Tono: De liderazgo / Consultor/a dando la solución final]</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"Basándonos en estos datos, planteamos tres recomendaciones concretas para el Directorio:</a:t>
            </a:r>
            <a:endParaRPr lang="es-ES" sz="1200" kern="1200" dirty="0" smtClean="0">
              <a:solidFill>
                <a:schemeClr val="tx1"/>
              </a:solidFill>
              <a:effectLst/>
              <a:latin typeface="+mn-lt"/>
              <a:ea typeface="+mn-ea"/>
              <a:cs typeface="+mn-cs"/>
            </a:endParaRPr>
          </a:p>
          <a:p>
            <a:r>
              <a:rPr lang="es-ES" sz="1200" b="1" kern="1200" dirty="0" smtClean="0">
                <a:solidFill>
                  <a:schemeClr val="tx1"/>
                </a:solidFill>
                <a:effectLst/>
                <a:latin typeface="+mn-lt"/>
                <a:ea typeface="+mn-ea"/>
                <a:cs typeface="+mn-cs"/>
              </a:rPr>
              <a:t>Descentralizar las campañas de Marketing:</a:t>
            </a:r>
            <a:r>
              <a:rPr lang="es-ES" sz="1200" kern="1200" dirty="0" smtClean="0">
                <a:solidFill>
                  <a:schemeClr val="tx1"/>
                </a:solidFill>
                <a:effectLst/>
                <a:latin typeface="+mn-lt"/>
                <a:ea typeface="+mn-ea"/>
                <a:cs typeface="+mn-cs"/>
              </a:rPr>
              <a:t> Abandonar los lanzamientos globales uniformes. Adaptar la comunicación de cada título al perfil cultural de la región.*</a:t>
            </a:r>
          </a:p>
          <a:p>
            <a:r>
              <a:rPr lang="es-ES" sz="1200" b="1" kern="1200" dirty="0" smtClean="0">
                <a:solidFill>
                  <a:schemeClr val="tx1"/>
                </a:solidFill>
                <a:effectLst/>
                <a:latin typeface="+mn-lt"/>
                <a:ea typeface="+mn-ea"/>
                <a:cs typeface="+mn-cs"/>
              </a:rPr>
              <a:t>Inversión en Localización para Asia:</a:t>
            </a:r>
            <a:r>
              <a:rPr lang="es-ES" sz="1200" kern="1200" dirty="0" smtClean="0">
                <a:solidFill>
                  <a:schemeClr val="tx1"/>
                </a:solidFill>
                <a:effectLst/>
                <a:latin typeface="+mn-lt"/>
                <a:ea typeface="+mn-ea"/>
                <a:cs typeface="+mn-cs"/>
              </a:rPr>
              <a:t> Si desarrollamos o distribuimos juegos de Rol (RPG), debemos invertir en narrativas profundas y localización completa para el mercado japonés.*</a:t>
            </a:r>
          </a:p>
          <a:p>
            <a:r>
              <a:rPr lang="es-ES" sz="1200" b="1" kern="1200" dirty="0" smtClean="0">
                <a:solidFill>
                  <a:schemeClr val="tx1"/>
                </a:solidFill>
                <a:effectLst/>
                <a:latin typeface="+mn-lt"/>
                <a:ea typeface="+mn-ea"/>
                <a:cs typeface="+mn-cs"/>
              </a:rPr>
              <a:t>Foco Operativo en Occidente:</a:t>
            </a:r>
            <a:r>
              <a:rPr lang="es-ES" sz="1200" kern="1200" dirty="0" smtClean="0">
                <a:solidFill>
                  <a:schemeClr val="tx1"/>
                </a:solidFill>
                <a:effectLst/>
                <a:latin typeface="+mn-lt"/>
                <a:ea typeface="+mn-ea"/>
                <a:cs typeface="+mn-cs"/>
              </a:rPr>
              <a:t> Para géneros de Acción y </a:t>
            </a:r>
            <a:r>
              <a:rPr lang="es-ES" sz="1200" kern="1200" dirty="0" err="1" smtClean="0">
                <a:solidFill>
                  <a:schemeClr val="tx1"/>
                </a:solidFill>
                <a:effectLst/>
                <a:latin typeface="+mn-lt"/>
                <a:ea typeface="+mn-ea"/>
                <a:cs typeface="+mn-cs"/>
              </a:rPr>
              <a:t>Shooters</a:t>
            </a:r>
            <a:r>
              <a:rPr lang="es-ES" sz="1200" kern="1200" dirty="0" smtClean="0">
                <a:solidFill>
                  <a:schemeClr val="tx1"/>
                </a:solidFill>
                <a:effectLst/>
                <a:latin typeface="+mn-lt"/>
                <a:ea typeface="+mn-ea"/>
                <a:cs typeface="+mn-cs"/>
              </a:rPr>
              <a:t>, concentrar el presupuesto publicitario en Norteamérica y Europa, donde la correlación de éxito es del 89%."*</a:t>
            </a:r>
          </a:p>
          <a:p>
            <a:endParaRPr lang="en-US" dirty="0"/>
          </a:p>
        </p:txBody>
      </p:sp>
      <p:sp>
        <p:nvSpPr>
          <p:cNvPr id="4" name="Marcador de número de diapositiva 3"/>
          <p:cNvSpPr>
            <a:spLocks noGrp="1"/>
          </p:cNvSpPr>
          <p:nvPr>
            <p:ph type="sldNum" sz="quarter" idx="10"/>
          </p:nvPr>
        </p:nvSpPr>
        <p:spPr/>
        <p:txBody>
          <a:bodyPr/>
          <a:lstStyle/>
          <a:p>
            <a:fld id="{0131104C-B0C8-41BA-8A90-F1CDCE0B74F7}" type="slidenum">
              <a:rPr lang="en-US" smtClean="0"/>
              <a:t>9</a:t>
            </a:fld>
            <a:endParaRPr lang="en-US"/>
          </a:p>
        </p:txBody>
      </p:sp>
    </p:spTree>
    <p:extLst>
      <p:ext uri="{BB962C8B-B14F-4D97-AF65-F5344CB8AC3E}">
        <p14:creationId xmlns:p14="http://schemas.microsoft.com/office/powerpoint/2010/main" val="825965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kern="1200" dirty="0" err="1" smtClean="0">
                <a:solidFill>
                  <a:schemeClr val="tx1"/>
                </a:solidFill>
                <a:effectLst/>
                <a:latin typeface="+mn-lt"/>
                <a:ea typeface="+mn-ea"/>
                <a:cs typeface="+mn-cs"/>
              </a:rPr>
              <a:t>Slide</a:t>
            </a:r>
            <a:r>
              <a:rPr lang="es-ES" sz="1200" b="1" kern="1200" dirty="0" smtClean="0">
                <a:solidFill>
                  <a:schemeClr val="tx1"/>
                </a:solidFill>
                <a:effectLst/>
                <a:latin typeface="+mn-lt"/>
                <a:ea typeface="+mn-ea"/>
                <a:cs typeface="+mn-cs"/>
              </a:rPr>
              <a:t> 9: Limitaciones y Próximos Pasos</a:t>
            </a:r>
          </a:p>
          <a:p>
            <a:r>
              <a:rPr lang="es-ES" sz="1200" b="1" kern="1200" dirty="0" smtClean="0">
                <a:solidFill>
                  <a:schemeClr val="tx1"/>
                </a:solidFill>
                <a:effectLst/>
                <a:latin typeface="+mn-lt"/>
                <a:ea typeface="+mn-ea"/>
                <a:cs typeface="+mn-cs"/>
              </a:rPr>
              <a:t>[Tono: Honesto, riguroso y profesional]</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"Como todo análisis profesional, debemos remarcar los límites del estudio: este </a:t>
            </a:r>
            <a:r>
              <a:rPr lang="es-ES" sz="1200" i="1" kern="1200" dirty="0" err="1" smtClean="0">
                <a:solidFill>
                  <a:schemeClr val="tx1"/>
                </a:solidFill>
                <a:effectLst/>
                <a:latin typeface="+mn-lt"/>
                <a:ea typeface="+mn-ea"/>
                <a:cs typeface="+mn-cs"/>
              </a:rPr>
              <a:t>dataset</a:t>
            </a:r>
            <a:r>
              <a:rPr lang="es-ES" sz="1200" i="1" kern="1200" dirty="0" smtClean="0">
                <a:solidFill>
                  <a:schemeClr val="tx1"/>
                </a:solidFill>
                <a:effectLst/>
                <a:latin typeface="+mn-lt"/>
                <a:ea typeface="+mn-ea"/>
                <a:cs typeface="+mn-cs"/>
              </a:rPr>
              <a:t> evalúa ventas de</a:t>
            </a:r>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formatos físicos</a:t>
            </a:r>
            <a:r>
              <a:rPr lang="es-ES" sz="1200" kern="1200" dirty="0" smtClean="0">
                <a:solidFill>
                  <a:schemeClr val="tx1"/>
                </a:solidFill>
                <a:effectLst/>
                <a:latin typeface="+mn-lt"/>
                <a:ea typeface="+mn-ea"/>
                <a:cs typeface="+mn-cs"/>
              </a:rPr>
              <a:t> </a:t>
            </a:r>
            <a:r>
              <a:rPr lang="es-ES" sz="1200" i="1" kern="1200" dirty="0" smtClean="0">
                <a:solidFill>
                  <a:schemeClr val="tx1"/>
                </a:solidFill>
                <a:effectLst/>
                <a:latin typeface="+mn-lt"/>
                <a:ea typeface="+mn-ea"/>
                <a:cs typeface="+mn-cs"/>
              </a:rPr>
              <a:t>.</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Como próximo paso estratégico, proponemos integrar los datos de transacciones digitales (</a:t>
            </a:r>
            <a:r>
              <a:rPr lang="es-ES" sz="1200" i="1" kern="1200" dirty="0" err="1" smtClean="0">
                <a:solidFill>
                  <a:schemeClr val="tx1"/>
                </a:solidFill>
                <a:effectLst/>
                <a:latin typeface="+mn-lt"/>
                <a:ea typeface="+mn-ea"/>
                <a:cs typeface="+mn-cs"/>
              </a:rPr>
              <a:t>Steam</a:t>
            </a:r>
            <a:r>
              <a:rPr lang="es-ES" sz="1200" i="1" kern="1200" dirty="0" smtClean="0">
                <a:solidFill>
                  <a:schemeClr val="tx1"/>
                </a:solidFill>
                <a:effectLst/>
                <a:latin typeface="+mn-lt"/>
                <a:ea typeface="+mn-ea"/>
                <a:cs typeface="+mn-cs"/>
              </a:rPr>
              <a:t>, PlayStation Network, Xbox Live) y modelos Free-to-Play para analizar la transición del mercado a partir del año 2020.</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&gt; </a:t>
            </a:r>
            <a:r>
              <a:rPr lang="es-ES" sz="1200" i="1" kern="1200" dirty="0" smtClean="0">
                <a:solidFill>
                  <a:schemeClr val="tx1"/>
                </a:solidFill>
                <a:effectLst/>
                <a:latin typeface="+mn-lt"/>
                <a:ea typeface="+mn-ea"/>
                <a:cs typeface="+mn-cs"/>
              </a:rPr>
              <a:t>Quedo a disposición del Directorio para responder sus preguntas. Muchas gracias."</a:t>
            </a:r>
            <a:endParaRPr lang="es-ES" sz="1200" kern="1200" dirty="0" smtClean="0">
              <a:solidFill>
                <a:schemeClr val="tx1"/>
              </a:solidFill>
              <a:effectLst/>
              <a:latin typeface="+mn-lt"/>
              <a:ea typeface="+mn-ea"/>
              <a:cs typeface="+mn-cs"/>
            </a:endParaRPr>
          </a:p>
          <a:p>
            <a:endParaRPr lang="en-US" dirty="0"/>
          </a:p>
        </p:txBody>
      </p:sp>
      <p:sp>
        <p:nvSpPr>
          <p:cNvPr id="4" name="Marcador de número de diapositiva 3"/>
          <p:cNvSpPr>
            <a:spLocks noGrp="1"/>
          </p:cNvSpPr>
          <p:nvPr>
            <p:ph type="sldNum" sz="quarter" idx="10"/>
          </p:nvPr>
        </p:nvSpPr>
        <p:spPr/>
        <p:txBody>
          <a:bodyPr/>
          <a:lstStyle/>
          <a:p>
            <a:fld id="{0131104C-B0C8-41BA-8A90-F1CDCE0B74F7}" type="slidenum">
              <a:rPr lang="en-US" smtClean="0"/>
              <a:t>10</a:t>
            </a:fld>
            <a:endParaRPr lang="en-US"/>
          </a:p>
        </p:txBody>
      </p:sp>
    </p:spTree>
    <p:extLst>
      <p:ext uri="{BB962C8B-B14F-4D97-AF65-F5344CB8AC3E}">
        <p14:creationId xmlns:p14="http://schemas.microsoft.com/office/powerpoint/2010/main" val="3302315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00" y="0"/>
            <a:ext cx="16383002" cy="9144000"/>
          </a:xfrm>
          <a:prstGeom prst="rect">
            <a:avLst/>
          </a:prstGeom>
        </p:spPr>
      </p:pic>
    </p:spTree>
    <p:extLst>
      <p:ext uri="{BB962C8B-B14F-4D97-AF65-F5344CB8AC3E}">
        <p14:creationId xmlns:p14="http://schemas.microsoft.com/office/powerpoint/2010/main" val="3429904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TotalTime>
  <Words>1085</Words>
  <Application>Microsoft Office PowerPoint</Application>
  <PresentationFormat>Personalizado</PresentationFormat>
  <Paragraphs>57</Paragraphs>
  <Slides>10</Slides>
  <Notes>9</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Usuario de Windows</cp:lastModifiedBy>
  <cp:revision>5</cp:revision>
  <dcterms:created xsi:type="dcterms:W3CDTF">2006-08-16T00:00:00Z</dcterms:created>
  <dcterms:modified xsi:type="dcterms:W3CDTF">2026-09-15T14:58:50Z</dcterms:modified>
</cp:coreProperties>
</file>